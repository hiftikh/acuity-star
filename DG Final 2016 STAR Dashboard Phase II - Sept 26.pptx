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2.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9" r:id="rId3"/>
    <p:sldId id="308" r:id="rId4"/>
    <p:sldId id="340" r:id="rId5"/>
    <p:sldId id="343" r:id="rId6"/>
    <p:sldId id="347" r:id="rId7"/>
    <p:sldId id="342" r:id="rId8"/>
    <p:sldId id="346" r:id="rId9"/>
    <p:sldId id="344" r:id="rId10"/>
    <p:sldId id="341" r:id="rId11"/>
    <p:sldId id="265" r:id="rId12"/>
  </p:sldIdLst>
  <p:sldSz cx="9144000" cy="6858000" type="screen4x3"/>
  <p:notesSz cx="7010400" cy="9236075"/>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zim" initials="N"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29AB"/>
    <a:srgbClr val="7636E0"/>
    <a:srgbClr val="B43EB9"/>
    <a:srgbClr val="DE3B3C"/>
    <a:srgbClr val="F6AC41"/>
    <a:srgbClr val="1573BD"/>
    <a:srgbClr val="863DFF"/>
    <a:srgbClr val="807F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24" autoAdjust="0"/>
    <p:restoredTop sz="94648" autoAdjust="0"/>
  </p:normalViewPr>
  <p:slideViewPr>
    <p:cSldViewPr snapToGrid="0" snapToObjects="1">
      <p:cViewPr varScale="1">
        <p:scale>
          <a:sx n="85" d="100"/>
          <a:sy n="85" d="100"/>
        </p:scale>
        <p:origin x="1003"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6-09-22T21:11:00.493" idx="8">
    <p:pos x="298" y="363"/>
    <p:text>How about including "Phase II" in the title?</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6-09-22T20:47:43.991" idx="4">
    <p:pos x="156" y="203"/>
    <p:text>As per my email and recommended requirements , how about including some new ones in Mandatory Goals section and some (or rest?) in Stretch Goals section?
Also, how about numbering each of the goals so that we can reference them in other documents?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fontAlgn="auto">
              <a:spcBef>
                <a:spcPts val="0"/>
              </a:spcBef>
              <a:spcAft>
                <a:spcPts val="0"/>
              </a:spcAft>
              <a:defRPr sz="1200">
                <a:latin typeface="+mn-lt"/>
                <a:cs typeface="+mn-cs"/>
              </a:defRPr>
            </a:lvl1pPr>
          </a:lstStyle>
          <a:p>
            <a:pPr>
              <a:defRPr/>
            </a:pPr>
            <a:fld id="{B6C413F7-3BC9-4A04-9988-23BDABB2AABD}" type="datetimeFigureOut">
              <a:rPr lang="en-US"/>
              <a:pPr>
                <a:defRPr/>
              </a:pPr>
              <a:t>2016/09/26</a:t>
            </a:fld>
            <a:endParaRPr lang="en-US" dirty="0"/>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pPr lvl="0"/>
            <a:endParaRPr lang="en-US" noProof="0" dirty="0"/>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fontAlgn="auto">
              <a:spcBef>
                <a:spcPts val="0"/>
              </a:spcBef>
              <a:spcAft>
                <a:spcPts val="0"/>
              </a:spcAft>
              <a:defRPr sz="1200">
                <a:latin typeface="+mn-lt"/>
                <a:cs typeface="+mn-cs"/>
              </a:defRPr>
            </a:lvl1pPr>
          </a:lstStyle>
          <a:p>
            <a:pPr>
              <a:defRPr/>
            </a:pPr>
            <a:fld id="{CD16913D-C0AE-4949-9CD6-A00957981BD7}" type="slidenum">
              <a:rPr lang="en-US"/>
              <a:pPr>
                <a:defRPr/>
              </a:pPr>
              <a:t>‹#›</a:t>
            </a:fld>
            <a:endParaRPr lang="en-US" dirty="0"/>
          </a:p>
        </p:txBody>
      </p:sp>
    </p:spTree>
    <p:extLst>
      <p:ext uri="{BB962C8B-B14F-4D97-AF65-F5344CB8AC3E}">
        <p14:creationId xmlns:p14="http://schemas.microsoft.com/office/powerpoint/2010/main" val="48493683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Main Page</a:t>
            </a:r>
          </a:p>
          <a:p>
            <a:pPr eaLnBrk="1" hangingPunct="1">
              <a:spcBef>
                <a:spcPct val="0"/>
              </a:spcBef>
            </a:pPr>
            <a:endParaRPr lang="en-US" smtClean="0"/>
          </a:p>
        </p:txBody>
      </p:sp>
      <p:sp>
        <p:nvSpPr>
          <p:cNvPr id="1536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3995C710-2501-4E71-B30B-36633B67AE95}" type="slidenum">
              <a:rPr lang="en-US" smtClean="0">
                <a:latin typeface="Calibri" pitchFamily="34" charset="0"/>
              </a:rPr>
              <a:pPr fontAlgn="base">
                <a:spcBef>
                  <a:spcPct val="0"/>
                </a:spcBef>
                <a:spcAft>
                  <a:spcPct val="0"/>
                </a:spcAft>
                <a:defRPr/>
              </a:pPr>
              <a:t>1</a:t>
            </a:fld>
            <a:endParaRPr lang="en-US" smtClean="0">
              <a:latin typeface="Calibri" pitchFamily="34" charset="0"/>
            </a:endParaRPr>
          </a:p>
        </p:txBody>
      </p:sp>
    </p:spTree>
    <p:extLst>
      <p:ext uri="{BB962C8B-B14F-4D97-AF65-F5344CB8AC3E}">
        <p14:creationId xmlns:p14="http://schemas.microsoft.com/office/powerpoint/2010/main" val="296844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B54C2C40-19D1-4BB2-AAA5-DD26950D4529}" type="slidenum">
              <a:rPr lang="en-US" smtClean="0">
                <a:latin typeface="Calibri" pitchFamily="34" charset="0"/>
              </a:rPr>
              <a:pPr fontAlgn="base">
                <a:spcBef>
                  <a:spcPct val="0"/>
                </a:spcBef>
                <a:spcAft>
                  <a:spcPct val="0"/>
                </a:spcAft>
                <a:defRPr/>
              </a:pPr>
              <a:t>2</a:t>
            </a:fld>
            <a:endParaRPr lang="en-US" smtClean="0">
              <a:latin typeface="Calibri" pitchFamily="34" charset="0"/>
            </a:endParaRPr>
          </a:p>
        </p:txBody>
      </p:sp>
    </p:spTree>
    <p:extLst>
      <p:ext uri="{BB962C8B-B14F-4D97-AF65-F5344CB8AC3E}">
        <p14:creationId xmlns:p14="http://schemas.microsoft.com/office/powerpoint/2010/main" val="1994315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29CF5E50-07C5-46A7-8141-3BA73B693DC6}" type="slidenum">
              <a:rPr lang="en-US" smtClean="0">
                <a:latin typeface="Calibri" pitchFamily="34" charset="0"/>
              </a:rPr>
              <a:pPr fontAlgn="base">
                <a:spcBef>
                  <a:spcPct val="0"/>
                </a:spcBef>
                <a:spcAft>
                  <a:spcPct val="0"/>
                </a:spcAft>
                <a:defRPr/>
              </a:pPr>
              <a:t>3</a:t>
            </a:fld>
            <a:endParaRPr lang="en-US" smtClean="0">
              <a:latin typeface="Calibri" pitchFamily="34" charset="0"/>
            </a:endParaRPr>
          </a:p>
        </p:txBody>
      </p:sp>
    </p:spTree>
    <p:extLst>
      <p:ext uri="{BB962C8B-B14F-4D97-AF65-F5344CB8AC3E}">
        <p14:creationId xmlns:p14="http://schemas.microsoft.com/office/powerpoint/2010/main" val="1451664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4</a:t>
            </a:fld>
            <a:endParaRPr lang="en-US" smtClean="0">
              <a:latin typeface="Calibri" pitchFamily="34" charset="0"/>
            </a:endParaRPr>
          </a:p>
        </p:txBody>
      </p:sp>
    </p:spTree>
    <p:extLst>
      <p:ext uri="{BB962C8B-B14F-4D97-AF65-F5344CB8AC3E}">
        <p14:creationId xmlns:p14="http://schemas.microsoft.com/office/powerpoint/2010/main" val="800313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5</a:t>
            </a:fld>
            <a:endParaRPr lang="en-US" smtClean="0">
              <a:latin typeface="Calibri" pitchFamily="34" charset="0"/>
            </a:endParaRPr>
          </a:p>
        </p:txBody>
      </p:sp>
    </p:spTree>
    <p:extLst>
      <p:ext uri="{BB962C8B-B14F-4D97-AF65-F5344CB8AC3E}">
        <p14:creationId xmlns:p14="http://schemas.microsoft.com/office/powerpoint/2010/main" val="2705032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6</a:t>
            </a:fld>
            <a:endParaRPr lang="en-US" smtClean="0">
              <a:latin typeface="Calibri" pitchFamily="34" charset="0"/>
            </a:endParaRPr>
          </a:p>
        </p:txBody>
      </p:sp>
    </p:spTree>
    <p:extLst>
      <p:ext uri="{BB962C8B-B14F-4D97-AF65-F5344CB8AC3E}">
        <p14:creationId xmlns:p14="http://schemas.microsoft.com/office/powerpoint/2010/main" val="1500837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7</a:t>
            </a:fld>
            <a:endParaRPr lang="en-US" smtClean="0">
              <a:latin typeface="Calibri" pitchFamily="34" charset="0"/>
            </a:endParaRPr>
          </a:p>
        </p:txBody>
      </p:sp>
    </p:spTree>
    <p:extLst>
      <p:ext uri="{BB962C8B-B14F-4D97-AF65-F5344CB8AC3E}">
        <p14:creationId xmlns:p14="http://schemas.microsoft.com/office/powerpoint/2010/main" val="3663069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8</a:t>
            </a:fld>
            <a:endParaRPr lang="en-US" smtClean="0">
              <a:latin typeface="Calibri" pitchFamily="34" charset="0"/>
            </a:endParaRPr>
          </a:p>
        </p:txBody>
      </p:sp>
    </p:spTree>
    <p:extLst>
      <p:ext uri="{BB962C8B-B14F-4D97-AF65-F5344CB8AC3E}">
        <p14:creationId xmlns:p14="http://schemas.microsoft.com/office/powerpoint/2010/main" val="3331610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9</a:t>
            </a:fld>
            <a:endParaRPr lang="en-US" smtClean="0">
              <a:latin typeface="Calibri" pitchFamily="34" charset="0"/>
            </a:endParaRPr>
          </a:p>
        </p:txBody>
      </p:sp>
    </p:spTree>
    <p:extLst>
      <p:ext uri="{BB962C8B-B14F-4D97-AF65-F5344CB8AC3E}">
        <p14:creationId xmlns:p14="http://schemas.microsoft.com/office/powerpoint/2010/main" val="1178688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Title Page</a:t>
            </a:r>
          </a:p>
          <a:p>
            <a:pPr eaLnBrk="1" hangingPunct="1">
              <a:spcBef>
                <a:spcPct val="0"/>
              </a:spcBef>
            </a:pPr>
            <a:endParaRPr lang="en-US"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9EA6EBFF-57F0-46F9-AF37-06253AB165B5}" type="slidenum">
              <a:rPr lang="en-US" smtClean="0">
                <a:latin typeface="Calibri" pitchFamily="34" charset="0"/>
              </a:rPr>
              <a:pPr fontAlgn="base">
                <a:spcBef>
                  <a:spcPct val="0"/>
                </a:spcBef>
                <a:spcAft>
                  <a:spcPct val="0"/>
                </a:spcAft>
                <a:defRPr/>
              </a:pPr>
              <a:t>10</a:t>
            </a:fld>
            <a:endParaRPr lang="en-US" smtClean="0">
              <a:latin typeface="Calibri" pitchFamily="34" charset="0"/>
            </a:endParaRPr>
          </a:p>
        </p:txBody>
      </p:sp>
    </p:spTree>
    <p:extLst>
      <p:ext uri="{BB962C8B-B14F-4D97-AF65-F5344CB8AC3E}">
        <p14:creationId xmlns:p14="http://schemas.microsoft.com/office/powerpoint/2010/main" val="479180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Main Page</a:t>
            </a:r>
          </a:p>
          <a:p>
            <a:pPr eaLnBrk="1" hangingPunct="1">
              <a:spcBef>
                <a:spcPct val="0"/>
              </a:spcBef>
            </a:pPr>
            <a:endParaRPr lang="en-US" smtClean="0"/>
          </a:p>
        </p:txBody>
      </p:sp>
      <p:sp>
        <p:nvSpPr>
          <p:cNvPr id="1946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defTabSz="464149" fontAlgn="base">
              <a:spcBef>
                <a:spcPct val="0"/>
              </a:spcBef>
              <a:spcAft>
                <a:spcPct val="0"/>
              </a:spcAft>
              <a:defRPr>
                <a:solidFill>
                  <a:schemeClr val="tx1"/>
                </a:solidFill>
                <a:latin typeface="Arial" charset="0"/>
              </a:defRPr>
            </a:lvl6pPr>
            <a:lvl7pPr marL="3016971" indent="-232075" defTabSz="464149" fontAlgn="base">
              <a:spcBef>
                <a:spcPct val="0"/>
              </a:spcBef>
              <a:spcAft>
                <a:spcPct val="0"/>
              </a:spcAft>
              <a:defRPr>
                <a:solidFill>
                  <a:schemeClr val="tx1"/>
                </a:solidFill>
                <a:latin typeface="Arial" charset="0"/>
              </a:defRPr>
            </a:lvl7pPr>
            <a:lvl8pPr marL="3481121" indent="-232075" defTabSz="464149" fontAlgn="base">
              <a:spcBef>
                <a:spcPct val="0"/>
              </a:spcBef>
              <a:spcAft>
                <a:spcPct val="0"/>
              </a:spcAft>
              <a:defRPr>
                <a:solidFill>
                  <a:schemeClr val="tx1"/>
                </a:solidFill>
                <a:latin typeface="Arial" charset="0"/>
              </a:defRPr>
            </a:lvl8pPr>
            <a:lvl9pPr marL="3945270" indent="-232075" defTabSz="464149" fontAlgn="base">
              <a:spcBef>
                <a:spcPct val="0"/>
              </a:spcBef>
              <a:spcAft>
                <a:spcPct val="0"/>
              </a:spcAft>
              <a:defRPr>
                <a:solidFill>
                  <a:schemeClr val="tx1"/>
                </a:solidFill>
                <a:latin typeface="Arial" charset="0"/>
              </a:defRPr>
            </a:lvl9pPr>
          </a:lstStyle>
          <a:p>
            <a:pPr fontAlgn="base">
              <a:spcBef>
                <a:spcPct val="0"/>
              </a:spcBef>
              <a:spcAft>
                <a:spcPct val="0"/>
              </a:spcAft>
              <a:defRPr/>
            </a:pPr>
            <a:fld id="{73571EE4-18C7-4838-B5CE-C69051CD726A}" type="slidenum">
              <a:rPr lang="en-US" smtClean="0">
                <a:latin typeface="Calibri" pitchFamily="34" charset="0"/>
              </a:rPr>
              <a:pPr fontAlgn="base">
                <a:spcBef>
                  <a:spcPct val="0"/>
                </a:spcBef>
                <a:spcAft>
                  <a:spcPct val="0"/>
                </a:spcAft>
                <a:defRPr/>
              </a:pPr>
              <a:t>11</a:t>
            </a:fld>
            <a:endParaRPr lang="en-US" smtClean="0">
              <a:latin typeface="Calibri" pitchFamily="34" charset="0"/>
            </a:endParaRPr>
          </a:p>
        </p:txBody>
      </p:sp>
    </p:spTree>
    <p:extLst>
      <p:ext uri="{BB962C8B-B14F-4D97-AF65-F5344CB8AC3E}">
        <p14:creationId xmlns:p14="http://schemas.microsoft.com/office/powerpoint/2010/main" val="378011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EEEDD54-0B77-4EC3-B4E7-EEB8D1DADFD6}" type="datetimeFigureOut">
              <a:rPr lang="en-US"/>
              <a:pPr>
                <a:defRPr/>
              </a:pPr>
              <a:t>2016/09/26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09A78F-43CB-48AE-92EB-4496868D1C2A}" type="slidenum">
              <a:rPr lang="en-US"/>
              <a:pPr>
                <a:defRPr/>
              </a:pPr>
              <a:t>‹#›</a:t>
            </a:fld>
            <a:endParaRPr lang="en-US" dirty="0"/>
          </a:p>
        </p:txBody>
      </p:sp>
    </p:spTree>
    <p:extLst>
      <p:ext uri="{BB962C8B-B14F-4D97-AF65-F5344CB8AC3E}">
        <p14:creationId xmlns:p14="http://schemas.microsoft.com/office/powerpoint/2010/main" val="3579556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707FF84-AF2C-47D1-8547-694B516309F1}" type="datetimeFigureOut">
              <a:rPr lang="en-US"/>
              <a:pPr>
                <a:defRPr/>
              </a:pPr>
              <a:t>2016/09/26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0F816D6-1B38-426B-AB28-C8021172D96D}" type="slidenum">
              <a:rPr lang="en-US"/>
              <a:pPr>
                <a:defRPr/>
              </a:pPr>
              <a:t>‹#›</a:t>
            </a:fld>
            <a:endParaRPr lang="en-US" dirty="0"/>
          </a:p>
        </p:txBody>
      </p:sp>
    </p:spTree>
    <p:extLst>
      <p:ext uri="{BB962C8B-B14F-4D97-AF65-F5344CB8AC3E}">
        <p14:creationId xmlns:p14="http://schemas.microsoft.com/office/powerpoint/2010/main" val="2007229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787B6E5-B722-465B-AFEF-E08709A36E3A}" type="datetimeFigureOut">
              <a:rPr lang="en-US"/>
              <a:pPr>
                <a:defRPr/>
              </a:pPr>
              <a:t>2016/09/26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D96C08-FBF1-45A7-903A-AF2B044C0357}" type="slidenum">
              <a:rPr lang="en-US"/>
              <a:pPr>
                <a:defRPr/>
              </a:pPr>
              <a:t>‹#›</a:t>
            </a:fld>
            <a:endParaRPr lang="en-US" dirty="0"/>
          </a:p>
        </p:txBody>
      </p:sp>
    </p:spTree>
    <p:extLst>
      <p:ext uri="{BB962C8B-B14F-4D97-AF65-F5344CB8AC3E}">
        <p14:creationId xmlns:p14="http://schemas.microsoft.com/office/powerpoint/2010/main" val="999469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D5A90D3-5524-4D87-B6BF-17F2CC5ED411}" type="datetimeFigureOut">
              <a:rPr lang="en-US"/>
              <a:pPr>
                <a:defRPr/>
              </a:pPr>
              <a:t>2016/09/26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44C5C9E-4C47-4358-B02B-10384408EC1D}" type="slidenum">
              <a:rPr lang="en-US"/>
              <a:pPr>
                <a:defRPr/>
              </a:pPr>
              <a:t>‹#›</a:t>
            </a:fld>
            <a:endParaRPr lang="en-US" dirty="0"/>
          </a:p>
        </p:txBody>
      </p:sp>
    </p:spTree>
    <p:extLst>
      <p:ext uri="{BB962C8B-B14F-4D97-AF65-F5344CB8AC3E}">
        <p14:creationId xmlns:p14="http://schemas.microsoft.com/office/powerpoint/2010/main" val="392287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6644621-8784-4503-AC30-455BB0A1D75A}" type="datetimeFigureOut">
              <a:rPr lang="en-US"/>
              <a:pPr>
                <a:defRPr/>
              </a:pPr>
              <a:t>2016/09/26</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F9D12E9-31EA-4847-92F9-12B8185168A2}" type="slidenum">
              <a:rPr lang="en-US"/>
              <a:pPr>
                <a:defRPr/>
              </a:pPr>
              <a:t>‹#›</a:t>
            </a:fld>
            <a:endParaRPr lang="en-US" dirty="0"/>
          </a:p>
        </p:txBody>
      </p:sp>
    </p:spTree>
    <p:extLst>
      <p:ext uri="{BB962C8B-B14F-4D97-AF65-F5344CB8AC3E}">
        <p14:creationId xmlns:p14="http://schemas.microsoft.com/office/powerpoint/2010/main" val="105708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F51B022-5C80-425C-B08F-9C55519FB8EC}" type="datetimeFigureOut">
              <a:rPr lang="en-US"/>
              <a:pPr>
                <a:defRPr/>
              </a:pPr>
              <a:t>2016/09/26</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A1BA46D-863A-44BF-A690-73338B3EA5F1}" type="slidenum">
              <a:rPr lang="en-US"/>
              <a:pPr>
                <a:defRPr/>
              </a:pPr>
              <a:t>‹#›</a:t>
            </a:fld>
            <a:endParaRPr lang="en-US" dirty="0"/>
          </a:p>
        </p:txBody>
      </p:sp>
    </p:spTree>
    <p:extLst>
      <p:ext uri="{BB962C8B-B14F-4D97-AF65-F5344CB8AC3E}">
        <p14:creationId xmlns:p14="http://schemas.microsoft.com/office/powerpoint/2010/main" val="213417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87E96F-448B-494D-B155-8DECD5CA5042}" type="datetimeFigureOut">
              <a:rPr lang="en-US"/>
              <a:pPr>
                <a:defRPr/>
              </a:pPr>
              <a:t>2016/09/26</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63538D8-DA4B-458A-9267-C7279F2FC903}" type="slidenum">
              <a:rPr lang="en-US"/>
              <a:pPr>
                <a:defRPr/>
              </a:pPr>
              <a:t>‹#›</a:t>
            </a:fld>
            <a:endParaRPr lang="en-US" dirty="0"/>
          </a:p>
        </p:txBody>
      </p:sp>
    </p:spTree>
    <p:extLst>
      <p:ext uri="{BB962C8B-B14F-4D97-AF65-F5344CB8AC3E}">
        <p14:creationId xmlns:p14="http://schemas.microsoft.com/office/powerpoint/2010/main" val="302654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C8DCB5A-CA88-4C3C-A0EF-60333EE4FCBE}" type="datetimeFigureOut">
              <a:rPr lang="en-US"/>
              <a:pPr>
                <a:defRPr/>
              </a:pPr>
              <a:t>2016/09/26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019BDA3-7AB4-42B5-A682-08987EEF530E}" type="slidenum">
              <a:rPr lang="en-US"/>
              <a:pPr>
                <a:defRPr/>
              </a:pPr>
              <a:t>‹#›</a:t>
            </a:fld>
            <a:endParaRPr lang="en-US" dirty="0"/>
          </a:p>
        </p:txBody>
      </p:sp>
    </p:spTree>
    <p:extLst>
      <p:ext uri="{BB962C8B-B14F-4D97-AF65-F5344CB8AC3E}">
        <p14:creationId xmlns:p14="http://schemas.microsoft.com/office/powerpoint/2010/main" val="3532795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DE7116B-7C2C-4E39-9820-664AB8E5F380}" type="datetimeFigureOut">
              <a:rPr lang="en-US"/>
              <a:pPr>
                <a:defRPr/>
              </a:pPr>
              <a:t>2016/09/26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5955134-3203-4D93-B0FF-2976ED278E72}" type="slidenum">
              <a:rPr lang="en-US"/>
              <a:pPr>
                <a:defRPr/>
              </a:pPr>
              <a:t>‹#›</a:t>
            </a:fld>
            <a:endParaRPr lang="en-US" dirty="0"/>
          </a:p>
        </p:txBody>
      </p:sp>
    </p:spTree>
    <p:extLst>
      <p:ext uri="{BB962C8B-B14F-4D97-AF65-F5344CB8AC3E}">
        <p14:creationId xmlns:p14="http://schemas.microsoft.com/office/powerpoint/2010/main" val="4004873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AC3B27A-5213-4795-9803-E2FF1104D399}" type="datetimeFigureOut">
              <a:rPr lang="en-US"/>
              <a:pPr>
                <a:defRPr/>
              </a:pPr>
              <a:t>2016/09/26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2A57502-0441-4BB3-BCBE-AF9C30A80073}" type="slidenum">
              <a:rPr lang="en-US"/>
              <a:pPr>
                <a:defRPr/>
              </a:pPr>
              <a:t>‹#›</a:t>
            </a:fld>
            <a:endParaRPr lang="en-US" dirty="0"/>
          </a:p>
        </p:txBody>
      </p:sp>
    </p:spTree>
    <p:extLst>
      <p:ext uri="{BB962C8B-B14F-4D97-AF65-F5344CB8AC3E}">
        <p14:creationId xmlns:p14="http://schemas.microsoft.com/office/powerpoint/2010/main" val="2239296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DD24712-A1DB-40DA-9B59-7FBA5C47F81C}" type="datetimeFigureOut">
              <a:rPr lang="en-US"/>
              <a:pPr>
                <a:defRPr/>
              </a:pPr>
              <a:t>2016/09/26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3713B4-F9C7-4F60-BBCD-3076D83F151E}" type="slidenum">
              <a:rPr lang="en-US"/>
              <a:pPr>
                <a:defRPr/>
              </a:pPr>
              <a:t>‹#›</a:t>
            </a:fld>
            <a:endParaRPr lang="en-US" dirty="0"/>
          </a:p>
        </p:txBody>
      </p:sp>
    </p:spTree>
    <p:extLst>
      <p:ext uri="{BB962C8B-B14F-4D97-AF65-F5344CB8AC3E}">
        <p14:creationId xmlns:p14="http://schemas.microsoft.com/office/powerpoint/2010/main" val="2069734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FF133C2-BA84-4216-B857-050D2F34D5CF}" type="datetimeFigureOut">
              <a:rPr lang="en-US"/>
              <a:pPr>
                <a:defRPr/>
              </a:pPr>
              <a:t>2016/09/26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8EA3B1D-8F47-4046-89C5-D10C3E1F935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0" fontAlgn="base" hangingPunct="0">
        <a:spcBef>
          <a:spcPct val="0"/>
        </a:spcBef>
        <a:spcAft>
          <a:spcPct val="0"/>
        </a:spcAft>
        <a:defRPr sz="5000" b="1" kern="1200">
          <a:solidFill>
            <a:srgbClr val="BFBFBF"/>
          </a:solidFill>
          <a:latin typeface="+mj-lt"/>
          <a:ea typeface="+mj-ea"/>
          <a:cs typeface="+mj-cs"/>
        </a:defRPr>
      </a:lvl1pPr>
      <a:lvl2pPr algn="l" defTabSz="457200" rtl="0" eaLnBrk="0" fontAlgn="base" hangingPunct="0">
        <a:spcBef>
          <a:spcPct val="0"/>
        </a:spcBef>
        <a:spcAft>
          <a:spcPct val="0"/>
        </a:spcAft>
        <a:defRPr sz="5000" b="1">
          <a:solidFill>
            <a:srgbClr val="BFBFBF"/>
          </a:solidFill>
          <a:latin typeface="Arial" charset="0"/>
        </a:defRPr>
      </a:lvl2pPr>
      <a:lvl3pPr algn="l" defTabSz="457200" rtl="0" eaLnBrk="0" fontAlgn="base" hangingPunct="0">
        <a:spcBef>
          <a:spcPct val="0"/>
        </a:spcBef>
        <a:spcAft>
          <a:spcPct val="0"/>
        </a:spcAft>
        <a:defRPr sz="5000" b="1">
          <a:solidFill>
            <a:srgbClr val="BFBFBF"/>
          </a:solidFill>
          <a:latin typeface="Arial" charset="0"/>
        </a:defRPr>
      </a:lvl3pPr>
      <a:lvl4pPr algn="l" defTabSz="457200" rtl="0" eaLnBrk="0" fontAlgn="base" hangingPunct="0">
        <a:spcBef>
          <a:spcPct val="0"/>
        </a:spcBef>
        <a:spcAft>
          <a:spcPct val="0"/>
        </a:spcAft>
        <a:defRPr sz="5000" b="1">
          <a:solidFill>
            <a:srgbClr val="BFBFBF"/>
          </a:solidFill>
          <a:latin typeface="Arial" charset="0"/>
        </a:defRPr>
      </a:lvl4pPr>
      <a:lvl5pPr algn="l" defTabSz="457200" rtl="0" eaLnBrk="0" fontAlgn="base" hangingPunct="0">
        <a:spcBef>
          <a:spcPct val="0"/>
        </a:spcBef>
        <a:spcAft>
          <a:spcPct val="0"/>
        </a:spcAft>
        <a:defRPr sz="5000" b="1">
          <a:solidFill>
            <a:srgbClr val="BFBFBF"/>
          </a:solidFill>
          <a:latin typeface="Arial" charset="0"/>
        </a:defRPr>
      </a:lvl5pPr>
      <a:lvl6pPr marL="457200" algn="l" defTabSz="457200" rtl="0" fontAlgn="base">
        <a:spcBef>
          <a:spcPct val="0"/>
        </a:spcBef>
        <a:spcAft>
          <a:spcPct val="0"/>
        </a:spcAft>
        <a:defRPr sz="5000" b="1">
          <a:solidFill>
            <a:srgbClr val="BFBFBF"/>
          </a:solidFill>
          <a:latin typeface="Arial" charset="0"/>
        </a:defRPr>
      </a:lvl6pPr>
      <a:lvl7pPr marL="914400" algn="l" defTabSz="457200" rtl="0" fontAlgn="base">
        <a:spcBef>
          <a:spcPct val="0"/>
        </a:spcBef>
        <a:spcAft>
          <a:spcPct val="0"/>
        </a:spcAft>
        <a:defRPr sz="5000" b="1">
          <a:solidFill>
            <a:srgbClr val="BFBFBF"/>
          </a:solidFill>
          <a:latin typeface="Arial" charset="0"/>
        </a:defRPr>
      </a:lvl7pPr>
      <a:lvl8pPr marL="1371600" algn="l" defTabSz="457200" rtl="0" fontAlgn="base">
        <a:spcBef>
          <a:spcPct val="0"/>
        </a:spcBef>
        <a:spcAft>
          <a:spcPct val="0"/>
        </a:spcAft>
        <a:defRPr sz="5000" b="1">
          <a:solidFill>
            <a:srgbClr val="BFBFBF"/>
          </a:solidFill>
          <a:latin typeface="Arial" charset="0"/>
        </a:defRPr>
      </a:lvl8pPr>
      <a:lvl9pPr marL="1828800" algn="l" defTabSz="457200" rtl="0" fontAlgn="base">
        <a:spcBef>
          <a:spcPct val="0"/>
        </a:spcBef>
        <a:spcAft>
          <a:spcPct val="0"/>
        </a:spcAft>
        <a:defRPr sz="5000" b="1">
          <a:solidFill>
            <a:srgbClr val="BFBFBF"/>
          </a:solidFill>
          <a:latin typeface="Arial" charset="0"/>
        </a:defRPr>
      </a:lvl9pPr>
    </p:titleStyle>
    <p:bodyStyle>
      <a:lvl1pPr marL="687388" indent="-687388" algn="l" defTabSz="457200" rtl="0" eaLnBrk="0" fontAlgn="base" hangingPunct="0">
        <a:spcBef>
          <a:spcPct val="0"/>
        </a:spcBef>
        <a:spcAft>
          <a:spcPts val="2400"/>
        </a:spcAft>
        <a:buSzPct val="75000"/>
        <a:buFont typeface="Arial" charset="0"/>
        <a:buChar char="•"/>
        <a:defRPr sz="2800" kern="1200">
          <a:solidFill>
            <a:schemeClr val="bg1"/>
          </a:solidFill>
          <a:latin typeface="+mn-lt"/>
          <a:ea typeface="+mn-ea"/>
          <a:cs typeface="+mn-cs"/>
        </a:defRPr>
      </a:lvl1pPr>
      <a:lvl2pPr marL="790575" indent="-285750" algn="l" defTabSz="457200" rtl="0" eaLnBrk="0" fontAlgn="base" hangingPunct="0">
        <a:spcBef>
          <a:spcPct val="20000"/>
        </a:spcBef>
        <a:spcAft>
          <a:spcPct val="0"/>
        </a:spcAft>
        <a:buFont typeface="Arial" charset="0"/>
        <a:buChar char="–"/>
        <a:defRPr sz="2800" kern="1200">
          <a:solidFill>
            <a:schemeClr val="bg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bg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bg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endParaRPr lang="en-US" smtClean="0"/>
          </a:p>
        </p:txBody>
      </p:sp>
      <p:sp>
        <p:nvSpPr>
          <p:cNvPr id="3" name="Subtitle 2"/>
          <p:cNvSpPr>
            <a:spLocks noGrp="1"/>
          </p:cNvSpPr>
          <p:nvPr>
            <p:ph type="subTitle" idx="1"/>
          </p:nvPr>
        </p:nvSpPr>
        <p:spPr/>
        <p:txBody>
          <a:bodyPr rtlCol="0">
            <a:normAutofit/>
          </a:bodyPr>
          <a:lstStyle/>
          <a:p>
            <a:pPr eaLnBrk="1" fontAlgn="auto" hangingPunct="1">
              <a:spcBef>
                <a:spcPts val="0"/>
              </a:spcBef>
              <a:buFont typeface="Arial"/>
              <a:buNone/>
              <a:defRPr/>
            </a:pPr>
            <a:endParaRPr lang="en-US" dirty="0"/>
          </a:p>
        </p:txBody>
      </p:sp>
      <p:pic>
        <p:nvPicPr>
          <p:cNvPr id="2052" name="Picture 4" descr="main_page_prp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3074" name="Picture 1" descr="title_page_Medicine_prp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69875" y="254000"/>
            <a:ext cx="8620125" cy="5909310"/>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lgn="ctr">
              <a:spcAft>
                <a:spcPts val="1200"/>
              </a:spcAft>
              <a:defRPr/>
            </a:pPr>
            <a:r>
              <a:rPr lang="en-US" sz="4800" b="1" dirty="0" smtClean="0">
                <a:solidFill>
                  <a:srgbClr val="5A29AB"/>
                </a:solidFill>
                <a:cs typeface="Arial Unicode MS"/>
              </a:rPr>
              <a:t>Acuity STAR Dashboard</a:t>
            </a:r>
            <a:endParaRPr lang="en-US" sz="4800" dirty="0">
              <a:solidFill>
                <a:srgbClr val="5A29AB"/>
              </a:solidFill>
            </a:endParaRPr>
          </a:p>
          <a:p>
            <a:pPr algn="ctr">
              <a:defRPr/>
            </a:pPr>
            <a:r>
              <a:rPr lang="en-CA" sz="4000" dirty="0" smtClean="0">
                <a:solidFill>
                  <a:srgbClr val="5A29AB"/>
                </a:solidFill>
              </a:rPr>
              <a:t>Phase II</a:t>
            </a:r>
          </a:p>
          <a:p>
            <a:pPr algn="ctr">
              <a:defRPr/>
            </a:pPr>
            <a:endParaRPr lang="en-CA" sz="2400" dirty="0"/>
          </a:p>
          <a:p>
            <a:pPr algn="ctr">
              <a:defRPr/>
            </a:pPr>
            <a:endParaRPr lang="en-CA" sz="2400" dirty="0" smtClean="0"/>
          </a:p>
          <a:p>
            <a:pPr algn="ctr">
              <a:defRPr/>
            </a:pPr>
            <a:r>
              <a:rPr lang="en-CA" sz="4400" dirty="0" smtClean="0"/>
              <a:t>Computer Science</a:t>
            </a:r>
          </a:p>
          <a:p>
            <a:pPr algn="ctr">
              <a:defRPr/>
            </a:pPr>
            <a:r>
              <a:rPr lang="en-CA" sz="4400" dirty="0" smtClean="0"/>
              <a:t>3</a:t>
            </a:r>
            <a:r>
              <a:rPr lang="en-CA" sz="4400" baseline="30000" dirty="0" smtClean="0"/>
              <a:t>rd</a:t>
            </a:r>
            <a:r>
              <a:rPr lang="en-CA" sz="4400" dirty="0" smtClean="0"/>
              <a:t> Year Project – Fall 2016</a:t>
            </a:r>
          </a:p>
          <a:p>
            <a:pPr algn="ctr">
              <a:defRPr/>
            </a:pPr>
            <a:endParaRPr lang="en-CA" sz="2400" dirty="0"/>
          </a:p>
          <a:p>
            <a:pPr algn="ctr">
              <a:defRPr/>
            </a:pPr>
            <a:endParaRPr lang="en-US" sz="2400" dirty="0"/>
          </a:p>
          <a:p>
            <a:pPr algn="ctr">
              <a:defRPr/>
            </a:pPr>
            <a:r>
              <a:rPr lang="en-US" sz="2400" dirty="0" smtClean="0"/>
              <a:t>Author: </a:t>
            </a:r>
            <a:r>
              <a:rPr lang="en-US" sz="2400" b="1" dirty="0" smtClean="0"/>
              <a:t>Derrick Gould</a:t>
            </a:r>
          </a:p>
          <a:p>
            <a:pPr algn="ctr">
              <a:defRPr/>
            </a:pPr>
            <a:r>
              <a:rPr lang="en-US" sz="2400" dirty="0" smtClean="0"/>
              <a:t>Date: September 26, 2016</a:t>
            </a:r>
          </a:p>
          <a:p>
            <a:pPr algn="ctr">
              <a:defRPr/>
            </a:pPr>
            <a:r>
              <a:rPr lang="en-US" sz="2400" dirty="0" smtClean="0"/>
              <a:t>Audience:  Computer Science Student Teams</a:t>
            </a:r>
          </a:p>
          <a:p>
            <a:pPr algn="ctr">
              <a:defRPr/>
            </a:pP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49394" y="0"/>
            <a:ext cx="8620125" cy="6555641"/>
          </a:xfrm>
          <a:prstGeom prst="rect">
            <a:avLst/>
          </a:prstGeom>
          <a:noFill/>
        </p:spPr>
        <p:txBody>
          <a:bodyPr>
            <a:spAutoFit/>
          </a:bodyPr>
          <a:lstStyle/>
          <a:p>
            <a:pPr algn="ctr">
              <a:spcAft>
                <a:spcPts val="1200"/>
              </a:spcAft>
              <a:defRPr/>
            </a:pPr>
            <a:r>
              <a:rPr lang="en-US" sz="5000" b="1" dirty="0" smtClean="0">
                <a:solidFill>
                  <a:srgbClr val="5A29AB"/>
                </a:solidFill>
                <a:latin typeface="Arial"/>
                <a:cs typeface="Arial Unicode MS"/>
              </a:rPr>
              <a:t>Agenda &amp; Discussion</a:t>
            </a:r>
          </a:p>
          <a:p>
            <a:pPr>
              <a:lnSpc>
                <a:spcPct val="150000"/>
              </a:lnSpc>
              <a:defRPr/>
            </a:pPr>
            <a:r>
              <a:rPr lang="en-US" sz="2400" b="1" dirty="0" smtClean="0"/>
              <a:t>Introductions: </a:t>
            </a:r>
            <a:r>
              <a:rPr lang="en-US" sz="2400" dirty="0" smtClean="0"/>
              <a:t>Derrick Gould, Matt Walsh</a:t>
            </a:r>
          </a:p>
          <a:p>
            <a:pPr>
              <a:lnSpc>
                <a:spcPct val="150000"/>
              </a:lnSpc>
              <a:defRPr/>
            </a:pPr>
            <a:r>
              <a:rPr lang="en-US" sz="2400" b="1" dirty="0" smtClean="0"/>
              <a:t>Project Charter Review: </a:t>
            </a:r>
            <a:r>
              <a:rPr lang="en-US" sz="2400" dirty="0" smtClean="0"/>
              <a:t>Review Project Charter in Detail</a:t>
            </a:r>
          </a:p>
          <a:p>
            <a:pPr>
              <a:lnSpc>
                <a:spcPct val="150000"/>
              </a:lnSpc>
              <a:defRPr/>
            </a:pPr>
            <a:r>
              <a:rPr lang="en-CA" sz="2400" b="1" dirty="0" smtClean="0"/>
              <a:t>Our Customers: </a:t>
            </a:r>
            <a:r>
              <a:rPr lang="en-CA" sz="2400" dirty="0" smtClean="0"/>
              <a:t>Who are our customers?</a:t>
            </a:r>
          </a:p>
          <a:p>
            <a:pPr>
              <a:lnSpc>
                <a:spcPct val="150000"/>
              </a:lnSpc>
              <a:defRPr/>
            </a:pPr>
            <a:r>
              <a:rPr lang="en-CA" sz="2400" b="1" dirty="0" smtClean="0"/>
              <a:t>Using The Dashboard: </a:t>
            </a:r>
            <a:r>
              <a:rPr lang="en-CA" sz="2400" dirty="0" smtClean="0"/>
              <a:t>The</a:t>
            </a:r>
            <a:r>
              <a:rPr lang="en-CA" sz="2400" b="1" dirty="0" smtClean="0"/>
              <a:t> </a:t>
            </a:r>
            <a:r>
              <a:rPr lang="en-CA" sz="2400" dirty="0" smtClean="0"/>
              <a:t>impact of the Dashboard</a:t>
            </a:r>
          </a:p>
          <a:p>
            <a:pPr>
              <a:lnSpc>
                <a:spcPct val="150000"/>
              </a:lnSpc>
              <a:defRPr/>
            </a:pPr>
            <a:r>
              <a:rPr lang="en-CA" sz="2400" b="1" dirty="0" smtClean="0"/>
              <a:t>Data Set Review</a:t>
            </a:r>
            <a:r>
              <a:rPr lang="en-CA" sz="2400" dirty="0" smtClean="0"/>
              <a:t>: </a:t>
            </a:r>
            <a:r>
              <a:rPr lang="en-CA" sz="2400" dirty="0"/>
              <a:t>A brief </a:t>
            </a:r>
            <a:r>
              <a:rPr lang="en-CA" sz="2400" dirty="0" smtClean="0"/>
              <a:t>review of the XLS data sets</a:t>
            </a:r>
          </a:p>
          <a:p>
            <a:pPr>
              <a:lnSpc>
                <a:spcPct val="150000"/>
              </a:lnSpc>
              <a:defRPr/>
            </a:pPr>
            <a:r>
              <a:rPr lang="en-US" sz="2400" b="1" dirty="0" smtClean="0"/>
              <a:t>Review the Goals: </a:t>
            </a:r>
            <a:r>
              <a:rPr lang="en-CA" sz="2400" dirty="0" smtClean="0"/>
              <a:t>Mandatory &amp; Stretch goals for Phase II</a:t>
            </a:r>
          </a:p>
          <a:p>
            <a:pPr>
              <a:lnSpc>
                <a:spcPct val="150000"/>
              </a:lnSpc>
              <a:defRPr/>
            </a:pPr>
            <a:r>
              <a:rPr lang="en-CA" sz="2400" b="1" dirty="0" smtClean="0"/>
              <a:t>Dashboard Quality Review: </a:t>
            </a:r>
            <a:r>
              <a:rPr lang="en-CA" sz="2400" dirty="0" smtClean="0"/>
              <a:t>The customer review process</a:t>
            </a:r>
          </a:p>
          <a:p>
            <a:pPr>
              <a:lnSpc>
                <a:spcPct val="150000"/>
              </a:lnSpc>
              <a:defRPr/>
            </a:pPr>
            <a:r>
              <a:rPr lang="en-CA" sz="2400" b="1" dirty="0" smtClean="0"/>
              <a:t>Peach </a:t>
            </a:r>
            <a:r>
              <a:rPr lang="en-CA" sz="2400" b="1" dirty="0"/>
              <a:t>Galaxy Live Demo: </a:t>
            </a:r>
            <a:r>
              <a:rPr lang="en-CA" sz="2400" dirty="0"/>
              <a:t>A brief live demo of Peach Galaxy</a:t>
            </a:r>
          </a:p>
          <a:p>
            <a:pPr>
              <a:lnSpc>
                <a:spcPct val="150000"/>
              </a:lnSpc>
              <a:defRPr/>
            </a:pPr>
            <a:r>
              <a:rPr lang="en-CA" sz="2400" b="1" dirty="0"/>
              <a:t>Acuity STAR Live Demo:  </a:t>
            </a:r>
            <a:r>
              <a:rPr lang="en-CA" sz="2400" dirty="0"/>
              <a:t>A brief live demo of Acuity STAR</a:t>
            </a:r>
          </a:p>
          <a:p>
            <a:pPr>
              <a:lnSpc>
                <a:spcPct val="150000"/>
              </a:lnSpc>
              <a:defRPr/>
            </a:pPr>
            <a:r>
              <a:rPr lang="en-CA" sz="2400" b="1" dirty="0" smtClean="0"/>
              <a:t>Questions &amp; Answers</a:t>
            </a:r>
            <a:endParaRPr lang="en-CA" sz="2400" dirty="0" smtClean="0"/>
          </a:p>
        </p:txBody>
      </p:sp>
    </p:spTree>
    <p:extLst>
      <p:ext uri="{BB962C8B-B14F-4D97-AF65-F5344CB8AC3E}">
        <p14:creationId xmlns:p14="http://schemas.microsoft.com/office/powerpoint/2010/main" val="14706910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Phase II Goals</a:t>
            </a:r>
            <a:endParaRPr lang="en-US" sz="1600" b="1" dirty="0">
              <a:solidFill>
                <a:srgbClr val="3C1B71"/>
              </a:solidFill>
              <a:latin typeface="Arial"/>
              <a:cs typeface="Arial Unicode MS"/>
            </a:endParaRPr>
          </a:p>
        </p:txBody>
      </p:sp>
      <p:sp>
        <p:nvSpPr>
          <p:cNvPr id="4" name="TextBox 3"/>
          <p:cNvSpPr txBox="1"/>
          <p:nvPr/>
        </p:nvSpPr>
        <p:spPr>
          <a:xfrm>
            <a:off x="493059" y="959223"/>
            <a:ext cx="8280005" cy="5693866"/>
          </a:xfrm>
          <a:prstGeom prst="rect">
            <a:avLst/>
          </a:prstGeom>
          <a:noFill/>
        </p:spPr>
        <p:txBody>
          <a:bodyPr wrap="square" rtlCol="0">
            <a:spAutoFit/>
          </a:bodyPr>
          <a:lstStyle/>
          <a:p>
            <a:r>
              <a:rPr lang="en-US" sz="2800" b="1" dirty="0" smtClean="0"/>
              <a:t>Mandatory Requirements (1)</a:t>
            </a:r>
          </a:p>
          <a:p>
            <a:pPr marL="342900" indent="-342900">
              <a:buFont typeface="+mj-lt"/>
              <a:buAutoNum type="arabicPeriod"/>
            </a:pPr>
            <a:r>
              <a:rPr lang="en-US" sz="2000" dirty="0" smtClean="0"/>
              <a:t> </a:t>
            </a:r>
            <a:r>
              <a:rPr lang="en-CA" sz="2400" dirty="0"/>
              <a:t>Submit 1 report, "Assessment of the Phase 1 Project" </a:t>
            </a:r>
            <a:endParaRPr lang="en-CA" sz="2400" dirty="0" smtClean="0"/>
          </a:p>
          <a:p>
            <a:pPr lvl="1"/>
            <a:r>
              <a:rPr lang="en-CA" sz="2400" dirty="0" smtClean="0"/>
              <a:t>(as </a:t>
            </a:r>
            <a:r>
              <a:rPr lang="en-CA" sz="2400" dirty="0"/>
              <a:t>specified by the Instructing Team</a:t>
            </a:r>
            <a:r>
              <a:rPr lang="en-CA" sz="2400" dirty="0" smtClean="0"/>
              <a:t>.)</a:t>
            </a:r>
          </a:p>
          <a:p>
            <a:pPr lvl="1"/>
            <a:endParaRPr lang="en-CA" sz="2400" dirty="0"/>
          </a:p>
          <a:p>
            <a:pPr lvl="1"/>
            <a:r>
              <a:rPr lang="en-CA" sz="2400" u="sng" dirty="0" smtClean="0"/>
              <a:t>Examples:</a:t>
            </a:r>
          </a:p>
          <a:p>
            <a:pPr marL="914400" lvl="1" indent="-457200">
              <a:buFont typeface="+mj-lt"/>
              <a:buAutoNum type="alphaLcParenR"/>
            </a:pPr>
            <a:r>
              <a:rPr lang="en-US" sz="2400" dirty="0" smtClean="0"/>
              <a:t>Assessment of the User Interface</a:t>
            </a:r>
          </a:p>
          <a:p>
            <a:pPr marL="914400" lvl="1" indent="-457200">
              <a:buFont typeface="+mj-lt"/>
              <a:buAutoNum type="alphaLcParenR"/>
            </a:pPr>
            <a:r>
              <a:rPr lang="en-US" sz="2400" dirty="0" smtClean="0"/>
              <a:t>Assessment </a:t>
            </a:r>
            <a:r>
              <a:rPr lang="en-US" sz="2400" dirty="0"/>
              <a:t>of the Coding </a:t>
            </a:r>
            <a:r>
              <a:rPr lang="en-US" sz="2400" dirty="0" smtClean="0"/>
              <a:t>Structure &amp; Efficiency</a:t>
            </a:r>
          </a:p>
          <a:p>
            <a:pPr marL="914400" lvl="1" indent="-457200">
              <a:buFont typeface="+mj-lt"/>
              <a:buAutoNum type="alphaLcParenR"/>
            </a:pPr>
            <a:r>
              <a:rPr lang="en-US" sz="2400" dirty="0"/>
              <a:t>Assessment of the </a:t>
            </a:r>
            <a:r>
              <a:rPr lang="en-US" sz="2400" dirty="0" smtClean="0"/>
              <a:t>Documentation </a:t>
            </a:r>
            <a:r>
              <a:rPr lang="en-US" sz="1200" dirty="0" smtClean="0"/>
              <a:t>(ApplePicker) </a:t>
            </a:r>
          </a:p>
          <a:p>
            <a:pPr marL="914400" lvl="1" indent="-457200">
              <a:buFont typeface="+mj-lt"/>
              <a:buAutoNum type="alphaLcParenR"/>
            </a:pPr>
            <a:r>
              <a:rPr lang="en-US" sz="2400" dirty="0" smtClean="0"/>
              <a:t>Proposal to improve (specific, measurable)</a:t>
            </a:r>
          </a:p>
          <a:p>
            <a:pPr lvl="2"/>
            <a:endParaRPr lang="en-US" sz="2400" dirty="0" smtClean="0"/>
          </a:p>
          <a:p>
            <a:pPr marL="342900" indent="-342900">
              <a:buFont typeface="+mj-lt"/>
              <a:buAutoNum type="arabicPeriod"/>
            </a:pPr>
            <a:r>
              <a:rPr lang="en-US" sz="2400" dirty="0" smtClean="0"/>
              <a:t>Add two new graph types to the reporting options</a:t>
            </a:r>
          </a:p>
          <a:p>
            <a:pPr lvl="1"/>
            <a:r>
              <a:rPr lang="en-CA" sz="2400" dirty="0" smtClean="0"/>
              <a:t>Extension </a:t>
            </a:r>
            <a:r>
              <a:rPr lang="en-CA" sz="2400" dirty="0"/>
              <a:t>of exiting graphs at </a:t>
            </a:r>
            <a:r>
              <a:rPr lang="en-CA" sz="2400" dirty="0" smtClean="0"/>
              <a:t>sub-categories</a:t>
            </a:r>
          </a:p>
          <a:p>
            <a:pPr lvl="1"/>
            <a:r>
              <a:rPr lang="en-CA" sz="2400" dirty="0" smtClean="0"/>
              <a:t>Add 2 New Types: Line, plus one of your choice</a:t>
            </a:r>
          </a:p>
          <a:p>
            <a:pPr lvl="1"/>
            <a:r>
              <a:rPr lang="en-CA" sz="2400" dirty="0" smtClean="0"/>
              <a:t>Graph / Chart entire department, division or list</a:t>
            </a:r>
            <a:endParaRPr lang="en-US" sz="2400" dirty="0" smtClean="0"/>
          </a:p>
          <a:p>
            <a:pPr marL="342900" indent="-342900">
              <a:buFont typeface="+mj-lt"/>
              <a:buAutoNum type="arabicPeriod"/>
            </a:pPr>
            <a:endParaRPr lang="en-CA" sz="2400" dirty="0"/>
          </a:p>
        </p:txBody>
      </p:sp>
    </p:spTree>
    <p:extLst>
      <p:ext uri="{BB962C8B-B14F-4D97-AF65-F5344CB8AC3E}">
        <p14:creationId xmlns:p14="http://schemas.microsoft.com/office/powerpoint/2010/main" val="3442835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Phase II Goals</a:t>
            </a:r>
            <a:endParaRPr lang="en-US" sz="1600" b="1" dirty="0">
              <a:solidFill>
                <a:srgbClr val="3C1B71"/>
              </a:solidFill>
              <a:latin typeface="Arial"/>
              <a:cs typeface="Arial Unicode MS"/>
            </a:endParaRPr>
          </a:p>
        </p:txBody>
      </p:sp>
      <p:sp>
        <p:nvSpPr>
          <p:cNvPr id="4" name="TextBox 3"/>
          <p:cNvSpPr txBox="1"/>
          <p:nvPr/>
        </p:nvSpPr>
        <p:spPr>
          <a:xfrm>
            <a:off x="493059" y="959223"/>
            <a:ext cx="8396941" cy="5139869"/>
          </a:xfrm>
          <a:prstGeom prst="rect">
            <a:avLst/>
          </a:prstGeom>
          <a:noFill/>
        </p:spPr>
        <p:txBody>
          <a:bodyPr wrap="square" rtlCol="0">
            <a:spAutoFit/>
          </a:bodyPr>
          <a:lstStyle/>
          <a:p>
            <a:r>
              <a:rPr lang="en-US" sz="2800" b="1" dirty="0" smtClean="0"/>
              <a:t>Mandatory Requirements (2)</a:t>
            </a:r>
            <a:endParaRPr lang="en-US" sz="2800" dirty="0"/>
          </a:p>
          <a:p>
            <a:pPr marL="457200" indent="-457200">
              <a:buFont typeface="+mj-lt"/>
              <a:buAutoNum type="arabicPeriod" startAt="3"/>
            </a:pPr>
            <a:r>
              <a:rPr lang="en-CA" sz="2400" dirty="0"/>
              <a:t>The ability to save the session </a:t>
            </a:r>
            <a:r>
              <a:rPr lang="en-CA" sz="2400" dirty="0" smtClean="0"/>
              <a:t>state</a:t>
            </a:r>
          </a:p>
          <a:p>
            <a:pPr marL="457200" indent="-457200">
              <a:buFont typeface="+mj-lt"/>
              <a:buAutoNum type="arabicPeriod" startAt="3"/>
            </a:pPr>
            <a:endParaRPr lang="en-US" sz="1200" dirty="0"/>
          </a:p>
          <a:p>
            <a:pPr marL="457200" indent="-457200">
              <a:buFont typeface="+mj-lt"/>
              <a:buAutoNum type="arabicPeriod" startAt="3"/>
            </a:pPr>
            <a:r>
              <a:rPr lang="en-US" sz="2400" dirty="0" smtClean="0"/>
              <a:t>Expand </a:t>
            </a:r>
            <a:r>
              <a:rPr lang="en-US" sz="2400" dirty="0"/>
              <a:t>Phase I Project by adding the ability to sort by the member’s division. </a:t>
            </a:r>
            <a:r>
              <a:rPr lang="en-US" sz="1200" dirty="0"/>
              <a:t>(ApplePicker Mp4) </a:t>
            </a:r>
            <a:endParaRPr lang="en-US" sz="1200" dirty="0" smtClean="0"/>
          </a:p>
          <a:p>
            <a:pPr marL="457200" indent="-457200">
              <a:buFont typeface="+mj-lt"/>
              <a:buAutoNum type="arabicPeriod" startAt="3"/>
            </a:pPr>
            <a:endParaRPr lang="en-US" sz="1200" dirty="0"/>
          </a:p>
          <a:p>
            <a:pPr marL="457200" indent="-457200">
              <a:buFont typeface="+mj-lt"/>
              <a:buAutoNum type="arabicPeriod" startAt="3"/>
            </a:pPr>
            <a:r>
              <a:rPr lang="en-US" sz="2400" dirty="0" smtClean="0"/>
              <a:t>Expand </a:t>
            </a:r>
            <a:r>
              <a:rPr lang="en-US" sz="2400" dirty="0"/>
              <a:t>Phase I Project by adding the ability to sort by a user selected </a:t>
            </a:r>
            <a:r>
              <a:rPr lang="en-US" sz="2400" dirty="0" smtClean="0"/>
              <a:t>list. </a:t>
            </a:r>
            <a:r>
              <a:rPr lang="en-US" sz="1200" dirty="0"/>
              <a:t>(</a:t>
            </a:r>
            <a:r>
              <a:rPr lang="en-US" sz="1200" dirty="0" smtClean="0"/>
              <a:t>ApplePicker Mp4) </a:t>
            </a:r>
            <a:endParaRPr lang="en-US" sz="1200" dirty="0"/>
          </a:p>
          <a:p>
            <a:pPr marL="342900" indent="-342900">
              <a:buFont typeface="+mj-lt"/>
              <a:buAutoNum type="arabicPeriod" startAt="3"/>
            </a:pPr>
            <a:endParaRPr lang="en-US" sz="1200" dirty="0" smtClean="0"/>
          </a:p>
          <a:p>
            <a:pPr marL="342900" indent="-342900">
              <a:buFont typeface="+mj-lt"/>
              <a:buAutoNum type="arabicPeriod" startAt="3"/>
            </a:pPr>
            <a:r>
              <a:rPr lang="en-US" sz="2400" dirty="0" smtClean="0"/>
              <a:t>Fix all errors so that the finished product is error free.</a:t>
            </a:r>
          </a:p>
          <a:p>
            <a:pPr marL="342900" indent="-342900">
              <a:buFont typeface="+mj-lt"/>
              <a:buAutoNum type="arabicPeriod" startAt="3"/>
            </a:pPr>
            <a:endParaRPr lang="en-US" sz="2400" dirty="0"/>
          </a:p>
          <a:p>
            <a:pPr marL="342900" indent="-342900">
              <a:buFont typeface="+mj-lt"/>
              <a:buAutoNum type="arabicPeriod" startAt="3"/>
            </a:pPr>
            <a:r>
              <a:rPr lang="en-US" sz="2400" dirty="0" smtClean="0"/>
              <a:t>Deliver a “User Proof” install file for final project containing</a:t>
            </a:r>
          </a:p>
          <a:p>
            <a:pPr marL="914400" lvl="1" indent="-457200">
              <a:buFont typeface="+mj-lt"/>
              <a:buAutoNum type="alphaLcParenR"/>
            </a:pPr>
            <a:r>
              <a:rPr lang="en-US" sz="2400" dirty="0" smtClean="0"/>
              <a:t>Executable</a:t>
            </a:r>
          </a:p>
          <a:p>
            <a:pPr marL="914400" lvl="1" indent="-457200">
              <a:buFont typeface="+mj-lt"/>
              <a:buAutoNum type="alphaLcParenR"/>
            </a:pPr>
            <a:r>
              <a:rPr lang="en-US" sz="2400" dirty="0" smtClean="0"/>
              <a:t>Documentation</a:t>
            </a:r>
          </a:p>
          <a:p>
            <a:pPr marL="914400" lvl="1" indent="-457200">
              <a:buFont typeface="+mj-lt"/>
              <a:buAutoNum type="alphaLcParenR"/>
            </a:pPr>
            <a:r>
              <a:rPr lang="en-US" sz="2400" dirty="0" smtClean="0"/>
              <a:t>Supporting Files</a:t>
            </a:r>
          </a:p>
        </p:txBody>
      </p:sp>
    </p:spTree>
    <p:extLst>
      <p:ext uri="{BB962C8B-B14F-4D97-AF65-F5344CB8AC3E}">
        <p14:creationId xmlns:p14="http://schemas.microsoft.com/office/powerpoint/2010/main" val="11532199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Phase II Goals</a:t>
            </a:r>
            <a:endParaRPr lang="en-US" sz="1600" b="1" dirty="0">
              <a:solidFill>
                <a:srgbClr val="3C1B71"/>
              </a:solidFill>
              <a:latin typeface="Arial"/>
              <a:cs typeface="Arial Unicode MS"/>
            </a:endParaRPr>
          </a:p>
        </p:txBody>
      </p:sp>
      <p:sp>
        <p:nvSpPr>
          <p:cNvPr id="4" name="TextBox 3"/>
          <p:cNvSpPr txBox="1"/>
          <p:nvPr/>
        </p:nvSpPr>
        <p:spPr>
          <a:xfrm>
            <a:off x="493059" y="959223"/>
            <a:ext cx="8521545" cy="5632311"/>
          </a:xfrm>
          <a:prstGeom prst="rect">
            <a:avLst/>
          </a:prstGeom>
          <a:noFill/>
        </p:spPr>
        <p:txBody>
          <a:bodyPr wrap="square" rtlCol="0">
            <a:spAutoFit/>
          </a:bodyPr>
          <a:lstStyle/>
          <a:p>
            <a:r>
              <a:rPr lang="en-US" sz="2800" b="1" dirty="0" smtClean="0"/>
              <a:t>Mandatory Requirements (3)</a:t>
            </a:r>
            <a:endParaRPr lang="en-US" sz="2800" dirty="0"/>
          </a:p>
          <a:p>
            <a:pPr marL="457200" indent="-457200">
              <a:buFont typeface="+mj-lt"/>
              <a:buAutoNum type="arabicPeriod" startAt="8"/>
            </a:pPr>
            <a:r>
              <a:rPr lang="en-US" sz="2400" dirty="0"/>
              <a:t>Verify the code </a:t>
            </a:r>
            <a:r>
              <a:rPr lang="en-US" sz="2400" dirty="0" smtClean="0"/>
              <a:t>deck </a:t>
            </a:r>
            <a:r>
              <a:rPr lang="en-US" sz="2400" dirty="0"/>
              <a:t>for operation on Windows </a:t>
            </a:r>
            <a:r>
              <a:rPr lang="en-US" sz="2400" dirty="0" smtClean="0"/>
              <a:t>7</a:t>
            </a:r>
            <a:r>
              <a:rPr lang="en-US" sz="2000" dirty="0" smtClean="0"/>
              <a:t> </a:t>
            </a:r>
            <a:r>
              <a:rPr lang="en-US" sz="2400" dirty="0" smtClean="0"/>
              <a:t>Alternatively </a:t>
            </a:r>
            <a:r>
              <a:rPr lang="en-US" sz="2400" dirty="0"/>
              <a:t>Windows 10 could be used, if you wish to use Win10 please specify this in your </a:t>
            </a:r>
            <a:r>
              <a:rPr lang="en-US" sz="2400" dirty="0" smtClean="0"/>
              <a:t>report</a:t>
            </a:r>
            <a:endParaRPr lang="en-US" sz="2400" dirty="0"/>
          </a:p>
          <a:p>
            <a:pPr marL="457200" indent="-457200">
              <a:buFont typeface="+mj-lt"/>
              <a:buAutoNum type="arabicPeriod" startAt="8"/>
            </a:pPr>
            <a:endParaRPr lang="en-US" sz="2000" dirty="0" smtClean="0"/>
          </a:p>
          <a:p>
            <a:pPr marL="457200" indent="-457200">
              <a:buFont typeface="+mj-lt"/>
              <a:buAutoNum type="arabicPeriod" startAt="9"/>
            </a:pPr>
            <a:r>
              <a:rPr lang="en-US" sz="2400" dirty="0" smtClean="0"/>
              <a:t>Navigation of Erroneous Entries</a:t>
            </a:r>
            <a:endParaRPr lang="en-US" sz="2000" dirty="0"/>
          </a:p>
          <a:p>
            <a:pPr lvl="1"/>
            <a:r>
              <a:rPr lang="en-CA" sz="2400" dirty="0" smtClean="0"/>
              <a:t>When </a:t>
            </a:r>
            <a:r>
              <a:rPr lang="en-CA" sz="2400" dirty="0"/>
              <a:t>the CSV file is loaded for the first time, the error dialog box should report total number of errors and "Find Next/</a:t>
            </a:r>
            <a:r>
              <a:rPr lang="en-CA" sz="2400" dirty="0" err="1"/>
              <a:t>Prev</a:t>
            </a:r>
            <a:r>
              <a:rPr lang="en-CA" sz="2400" dirty="0"/>
              <a:t>" button which jumps on to the next/</a:t>
            </a:r>
            <a:r>
              <a:rPr lang="en-CA" sz="2400" dirty="0" err="1"/>
              <a:t>prev</a:t>
            </a:r>
            <a:r>
              <a:rPr lang="en-CA" sz="2400" dirty="0"/>
              <a:t> error. As the errors are fixed, the error count should go down. After all the errors are fixed, "Find Next/</a:t>
            </a:r>
            <a:r>
              <a:rPr lang="en-CA" sz="2400" dirty="0" err="1"/>
              <a:t>Prev</a:t>
            </a:r>
            <a:r>
              <a:rPr lang="en-CA" sz="2400" dirty="0"/>
              <a:t>" should be disabled</a:t>
            </a:r>
            <a:r>
              <a:rPr lang="en-CA" sz="2400" dirty="0" smtClean="0"/>
              <a:t>.</a:t>
            </a:r>
            <a:endParaRPr lang="en-US" sz="2400" dirty="0"/>
          </a:p>
          <a:p>
            <a:pPr lvl="1"/>
            <a:endParaRPr lang="en-US" sz="2400" dirty="0" smtClean="0"/>
          </a:p>
          <a:p>
            <a:pPr marL="457200" indent="-457200">
              <a:buFont typeface="+mj-lt"/>
              <a:buAutoNum type="arabicPeriod" startAt="11"/>
            </a:pPr>
            <a:endParaRPr lang="en-US" sz="2400" dirty="0"/>
          </a:p>
          <a:p>
            <a:endParaRPr lang="en-US" sz="2400" dirty="0"/>
          </a:p>
        </p:txBody>
      </p:sp>
    </p:spTree>
    <p:extLst>
      <p:ext uri="{BB962C8B-B14F-4D97-AF65-F5344CB8AC3E}">
        <p14:creationId xmlns:p14="http://schemas.microsoft.com/office/powerpoint/2010/main" val="5814790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Phase II Goals</a:t>
            </a:r>
            <a:endParaRPr lang="en-US" sz="1600" b="1" dirty="0">
              <a:solidFill>
                <a:srgbClr val="3C1B71"/>
              </a:solidFill>
              <a:latin typeface="Arial"/>
              <a:cs typeface="Arial Unicode MS"/>
            </a:endParaRPr>
          </a:p>
        </p:txBody>
      </p:sp>
      <p:sp>
        <p:nvSpPr>
          <p:cNvPr id="4" name="TextBox 3"/>
          <p:cNvSpPr txBox="1"/>
          <p:nvPr/>
        </p:nvSpPr>
        <p:spPr>
          <a:xfrm>
            <a:off x="493060" y="959224"/>
            <a:ext cx="8530170" cy="5693866"/>
          </a:xfrm>
          <a:prstGeom prst="rect">
            <a:avLst/>
          </a:prstGeom>
          <a:noFill/>
        </p:spPr>
        <p:txBody>
          <a:bodyPr wrap="square" rtlCol="0">
            <a:spAutoFit/>
          </a:bodyPr>
          <a:lstStyle/>
          <a:p>
            <a:r>
              <a:rPr lang="en-US" sz="2800" b="1" dirty="0" smtClean="0"/>
              <a:t>Stretch Goals</a:t>
            </a:r>
          </a:p>
          <a:p>
            <a:pPr marL="800100" lvl="1" indent="-342900">
              <a:buFont typeface="+mj-lt"/>
              <a:buAutoNum type="arabicPeriod"/>
            </a:pPr>
            <a:r>
              <a:rPr lang="en-CA" sz="2400" dirty="0"/>
              <a:t>Editable text fields (ApplePicker </a:t>
            </a:r>
            <a:r>
              <a:rPr lang="en-CA" sz="2400" dirty="0" smtClean="0"/>
              <a:t>Mp4)</a:t>
            </a:r>
            <a:br>
              <a:rPr lang="en-CA" sz="2400" dirty="0" smtClean="0"/>
            </a:br>
            <a:r>
              <a:rPr lang="en-CA" sz="2400" dirty="0" smtClean="0"/>
              <a:t>To </a:t>
            </a:r>
            <a:r>
              <a:rPr lang="en-CA" sz="2400" dirty="0"/>
              <a:t>change any fields before importing </a:t>
            </a:r>
            <a:r>
              <a:rPr lang="en-CA" sz="2400" dirty="0" smtClean="0"/>
              <a:t>them</a:t>
            </a:r>
          </a:p>
          <a:p>
            <a:pPr marL="800100" lvl="1" indent="-342900">
              <a:buFont typeface="+mj-lt"/>
              <a:buAutoNum type="arabicPeriod"/>
            </a:pPr>
            <a:endParaRPr lang="en-US" sz="2400" dirty="0" smtClean="0"/>
          </a:p>
          <a:p>
            <a:pPr marL="800100" lvl="1" indent="-342900">
              <a:buFont typeface="+mj-lt"/>
              <a:buAutoNum type="arabicPeriod"/>
            </a:pPr>
            <a:r>
              <a:rPr lang="en-CA" sz="2400" dirty="0" smtClean="0"/>
              <a:t>Change / Modify Sort Order </a:t>
            </a:r>
            <a:r>
              <a:rPr lang="en-US" sz="1200" dirty="0" smtClean="0"/>
              <a:t>(</a:t>
            </a:r>
            <a:r>
              <a:rPr lang="en-US" sz="1200" dirty="0"/>
              <a:t>ApplePicker mp4</a:t>
            </a:r>
            <a:r>
              <a:rPr lang="en-US" sz="1200" dirty="0" smtClean="0"/>
              <a:t>)</a:t>
            </a:r>
            <a:endParaRPr lang="en-US" sz="2400" dirty="0" smtClean="0"/>
          </a:p>
          <a:p>
            <a:pPr marL="800100" lvl="1" indent="-342900">
              <a:buFont typeface="+mj-lt"/>
              <a:buAutoNum type="arabicPeriod"/>
            </a:pPr>
            <a:endParaRPr lang="en-US" sz="2400" dirty="0" smtClean="0"/>
          </a:p>
          <a:p>
            <a:pPr marL="800100" lvl="1" indent="-342900">
              <a:buFont typeface="+mj-lt"/>
              <a:buAutoNum type="arabicPeriod"/>
            </a:pPr>
            <a:r>
              <a:rPr lang="en-US" sz="2400" dirty="0" smtClean="0"/>
              <a:t>Supply a training video demonstrating installation and use of your program</a:t>
            </a:r>
            <a:r>
              <a:rPr lang="en-US" sz="2400" dirty="0"/>
              <a:t>. </a:t>
            </a:r>
            <a:r>
              <a:rPr lang="en-US" sz="1200" dirty="0"/>
              <a:t>(</a:t>
            </a:r>
            <a:r>
              <a:rPr lang="en-US" sz="1200" dirty="0" smtClean="0"/>
              <a:t>ApplePicker mp4)</a:t>
            </a:r>
          </a:p>
          <a:p>
            <a:pPr marL="800100" lvl="1" indent="-342900">
              <a:buFont typeface="+mj-lt"/>
              <a:buAutoNum type="arabicPeriod"/>
            </a:pPr>
            <a:endParaRPr lang="en-US" sz="2400" dirty="0" smtClean="0"/>
          </a:p>
          <a:p>
            <a:pPr marL="800100" lvl="1" indent="-342900">
              <a:buFont typeface="+mj-lt"/>
              <a:buAutoNum type="arabicPeriod"/>
            </a:pPr>
            <a:r>
              <a:rPr lang="en-US" sz="2400" dirty="0" smtClean="0"/>
              <a:t>Implement Advanced Search </a:t>
            </a:r>
          </a:p>
          <a:p>
            <a:pPr lvl="2"/>
            <a:r>
              <a:rPr lang="en-CA" sz="2400" dirty="0" smtClean="0"/>
              <a:t>Open a </a:t>
            </a:r>
            <a:r>
              <a:rPr lang="en-CA" sz="2400" dirty="0"/>
              <a:t>new dialog box and user should be provided options to choose from, depending on the type of </a:t>
            </a:r>
            <a:r>
              <a:rPr lang="en-CA" sz="2400" dirty="0" smtClean="0"/>
              <a:t>excel</a:t>
            </a:r>
            <a:endParaRPr lang="en-US" sz="2400" dirty="0" smtClean="0"/>
          </a:p>
          <a:p>
            <a:pPr marL="800100" lvl="1" indent="-342900">
              <a:buFont typeface="+mj-lt"/>
              <a:buAutoNum type="arabicPeriod"/>
            </a:pPr>
            <a:endParaRPr lang="en-US" sz="2400" dirty="0" smtClean="0"/>
          </a:p>
          <a:p>
            <a:pPr marL="800100" lvl="1" indent="-342900">
              <a:buFont typeface="+mj-lt"/>
              <a:buAutoNum type="arabicPeriod"/>
            </a:pPr>
            <a:r>
              <a:rPr lang="en-US" sz="2400" dirty="0" smtClean="0"/>
              <a:t>Verify the code deck for operation on an iOS platform</a:t>
            </a:r>
            <a:endParaRPr lang="en-US" sz="2400" dirty="0"/>
          </a:p>
          <a:p>
            <a:pPr lvl="2"/>
            <a:r>
              <a:rPr lang="en-CA" sz="2400" dirty="0" smtClean="0"/>
              <a:t>(in addition to Win 7 or Win 10)</a:t>
            </a:r>
            <a:endParaRPr lang="en-US" sz="2400" dirty="0"/>
          </a:p>
        </p:txBody>
      </p:sp>
      <p:sp>
        <p:nvSpPr>
          <p:cNvPr id="8" name="Oval 7"/>
          <p:cNvSpPr/>
          <p:nvPr/>
        </p:nvSpPr>
        <p:spPr>
          <a:xfrm>
            <a:off x="-22924" y="62224"/>
            <a:ext cx="819758" cy="75764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335886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Dashboard Quality Review</a:t>
            </a:r>
            <a:endParaRPr lang="en-US" sz="1600" b="1" dirty="0">
              <a:solidFill>
                <a:srgbClr val="3C1B71"/>
              </a:solidFill>
              <a:latin typeface="Arial"/>
              <a:cs typeface="Arial Unicode MS"/>
            </a:endParaRPr>
          </a:p>
        </p:txBody>
      </p:sp>
      <p:sp>
        <p:nvSpPr>
          <p:cNvPr id="4" name="TextBox 3"/>
          <p:cNvSpPr txBox="1"/>
          <p:nvPr/>
        </p:nvSpPr>
        <p:spPr>
          <a:xfrm>
            <a:off x="493059" y="959223"/>
            <a:ext cx="8530171" cy="5386090"/>
          </a:xfrm>
          <a:prstGeom prst="rect">
            <a:avLst/>
          </a:prstGeom>
          <a:noFill/>
        </p:spPr>
        <p:txBody>
          <a:bodyPr wrap="square" rtlCol="0">
            <a:spAutoFit/>
          </a:bodyPr>
          <a:lstStyle/>
          <a:p>
            <a:r>
              <a:rPr lang="en-CA" sz="2800" b="1" dirty="0" smtClean="0"/>
              <a:t>Customer Responsibilities:</a:t>
            </a:r>
            <a:endParaRPr lang="en-CA" sz="2800" b="1" dirty="0"/>
          </a:p>
          <a:p>
            <a:r>
              <a:rPr lang="en-CA" sz="2400" dirty="0" smtClean="0"/>
              <a:t>I will:</a:t>
            </a:r>
          </a:p>
          <a:p>
            <a:pPr marL="914400" lvl="1" indent="-457200">
              <a:buFont typeface="+mj-lt"/>
              <a:buAutoNum type="arabicPeriod"/>
            </a:pPr>
            <a:r>
              <a:rPr lang="en-CA" sz="2400" dirty="0" smtClean="0"/>
              <a:t>Provide general feedback on each Team’s Report</a:t>
            </a:r>
          </a:p>
          <a:p>
            <a:pPr marL="914400" lvl="1" indent="-457200">
              <a:buFont typeface="+mj-lt"/>
              <a:buAutoNum type="arabicPeriod"/>
            </a:pPr>
            <a:r>
              <a:rPr lang="en-CA" sz="2400" dirty="0" smtClean="0"/>
              <a:t>Provide </a:t>
            </a:r>
            <a:r>
              <a:rPr lang="en-CA" sz="2400" dirty="0"/>
              <a:t>general </a:t>
            </a:r>
            <a:r>
              <a:rPr lang="en-CA" sz="2400" dirty="0" smtClean="0"/>
              <a:t>feedback on </a:t>
            </a:r>
            <a:r>
              <a:rPr lang="en-CA" sz="2400" dirty="0"/>
              <a:t>each </a:t>
            </a:r>
            <a:r>
              <a:rPr lang="en-CA" sz="2400" dirty="0" smtClean="0"/>
              <a:t>Demo 1 submission</a:t>
            </a:r>
          </a:p>
          <a:p>
            <a:pPr marL="914400" lvl="1" indent="-457200">
              <a:buFont typeface="+mj-lt"/>
              <a:buAutoNum type="arabicPeriod"/>
            </a:pPr>
            <a:r>
              <a:rPr lang="en-CA" sz="2400" dirty="0"/>
              <a:t>Provide general </a:t>
            </a:r>
            <a:r>
              <a:rPr lang="en-CA" sz="2400" dirty="0" smtClean="0"/>
              <a:t>feedback </a:t>
            </a:r>
            <a:r>
              <a:rPr lang="en-CA" sz="2400" dirty="0"/>
              <a:t>on each </a:t>
            </a:r>
            <a:r>
              <a:rPr lang="en-CA" sz="2400" dirty="0" smtClean="0"/>
              <a:t>Demo 2 </a:t>
            </a:r>
            <a:r>
              <a:rPr lang="en-CA" sz="2400" dirty="0"/>
              <a:t>submission</a:t>
            </a:r>
          </a:p>
          <a:p>
            <a:pPr marL="914400" lvl="1" indent="-457200">
              <a:buFont typeface="+mj-lt"/>
              <a:buAutoNum type="arabicPeriod"/>
            </a:pPr>
            <a:r>
              <a:rPr lang="en-CA" sz="2400" dirty="0"/>
              <a:t>Provide general </a:t>
            </a:r>
            <a:r>
              <a:rPr lang="en-CA" sz="2400" dirty="0" smtClean="0"/>
              <a:t>feedback </a:t>
            </a:r>
            <a:r>
              <a:rPr lang="en-CA" sz="2400" dirty="0"/>
              <a:t>on each </a:t>
            </a:r>
            <a:r>
              <a:rPr lang="en-CA" sz="2400" dirty="0" smtClean="0"/>
              <a:t>Final submission</a:t>
            </a:r>
          </a:p>
          <a:p>
            <a:pPr lvl="1"/>
            <a:r>
              <a:rPr lang="en-CA" sz="2400" dirty="0" smtClean="0"/>
              <a:t>(Feedback specific to the team submission,</a:t>
            </a:r>
          </a:p>
          <a:p>
            <a:pPr lvl="1"/>
            <a:r>
              <a:rPr lang="en-CA" sz="2400" dirty="0"/>
              <a:t> </a:t>
            </a:r>
            <a:r>
              <a:rPr lang="en-CA" sz="2400" dirty="0" smtClean="0"/>
              <a:t> </a:t>
            </a:r>
            <a:r>
              <a:rPr lang="en-CA" sz="2400" b="1" u="sng" dirty="0" smtClean="0"/>
              <a:t>no</a:t>
            </a:r>
            <a:r>
              <a:rPr lang="en-CA" sz="2400" dirty="0" smtClean="0"/>
              <a:t> specific student feedback)</a:t>
            </a:r>
          </a:p>
          <a:p>
            <a:endParaRPr lang="en-CA" sz="2400" b="1" dirty="0"/>
          </a:p>
          <a:p>
            <a:r>
              <a:rPr lang="en-CA" sz="2800" b="1" dirty="0" smtClean="0"/>
              <a:t>Professor &amp; TA’s </a:t>
            </a:r>
            <a:r>
              <a:rPr lang="en-CA" sz="2800" b="1" dirty="0"/>
              <a:t>Responsibilities </a:t>
            </a:r>
            <a:r>
              <a:rPr lang="en-CA" sz="2800" b="1" dirty="0" smtClean="0"/>
              <a:t>:</a:t>
            </a:r>
            <a:endParaRPr lang="en-CA" sz="2800" b="1" dirty="0"/>
          </a:p>
          <a:p>
            <a:r>
              <a:rPr lang="en-CA" sz="2400" dirty="0" smtClean="0"/>
              <a:t>Your instructors will:</a:t>
            </a:r>
            <a:endParaRPr lang="en-CA" sz="2400" dirty="0"/>
          </a:p>
          <a:p>
            <a:pPr marL="914400" lvl="1" indent="-457200">
              <a:buFont typeface="+mj-lt"/>
              <a:buAutoNum type="arabicPeriod"/>
            </a:pPr>
            <a:r>
              <a:rPr lang="en-CA" sz="2400" dirty="0" smtClean="0"/>
              <a:t>Grade your projects</a:t>
            </a:r>
          </a:p>
          <a:p>
            <a:pPr marL="914400" lvl="1" indent="-457200">
              <a:buFont typeface="+mj-lt"/>
              <a:buAutoNum type="arabicPeriod"/>
            </a:pPr>
            <a:r>
              <a:rPr lang="en-CA" sz="2400" dirty="0" smtClean="0"/>
              <a:t>Provide specific feedback to teams &amp; individuals</a:t>
            </a:r>
          </a:p>
          <a:p>
            <a:pPr lvl="1"/>
            <a:r>
              <a:rPr lang="en-CA" sz="2400" dirty="0" smtClean="0"/>
              <a:t>	(as appropriate)</a:t>
            </a:r>
          </a:p>
        </p:txBody>
      </p:sp>
    </p:spTree>
    <p:extLst>
      <p:ext uri="{BB962C8B-B14F-4D97-AF65-F5344CB8AC3E}">
        <p14:creationId xmlns:p14="http://schemas.microsoft.com/office/powerpoint/2010/main" val="32014988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Dashboard Quality Review</a:t>
            </a:r>
            <a:endParaRPr lang="en-US" sz="1600" b="1" dirty="0">
              <a:solidFill>
                <a:srgbClr val="3C1B71"/>
              </a:solidFill>
              <a:latin typeface="Arial"/>
              <a:cs typeface="Arial Unicode MS"/>
            </a:endParaRPr>
          </a:p>
        </p:txBody>
      </p:sp>
      <p:sp>
        <p:nvSpPr>
          <p:cNvPr id="4" name="TextBox 3"/>
          <p:cNvSpPr txBox="1"/>
          <p:nvPr/>
        </p:nvSpPr>
        <p:spPr>
          <a:xfrm>
            <a:off x="493059" y="959223"/>
            <a:ext cx="8530171" cy="4955203"/>
          </a:xfrm>
          <a:prstGeom prst="rect">
            <a:avLst/>
          </a:prstGeom>
          <a:noFill/>
        </p:spPr>
        <p:txBody>
          <a:bodyPr wrap="square" rtlCol="0">
            <a:spAutoFit/>
          </a:bodyPr>
          <a:lstStyle/>
          <a:p>
            <a:r>
              <a:rPr lang="en-CA" sz="2800" b="1" dirty="0" smtClean="0"/>
              <a:t>For Clarity:</a:t>
            </a:r>
            <a:endParaRPr lang="en-CA" sz="2800" b="1" dirty="0"/>
          </a:p>
          <a:p>
            <a:r>
              <a:rPr lang="en-CA" sz="2400" dirty="0" smtClean="0"/>
              <a:t>As your customer, I </a:t>
            </a:r>
            <a:r>
              <a:rPr lang="en-CA" sz="2400" dirty="0"/>
              <a:t>will </a:t>
            </a:r>
            <a:r>
              <a:rPr lang="en-CA" sz="2400" dirty="0" smtClean="0"/>
              <a:t>assess </a:t>
            </a:r>
            <a:r>
              <a:rPr lang="en-CA" sz="2400" dirty="0"/>
              <a:t>the </a:t>
            </a:r>
            <a:r>
              <a:rPr lang="en-CA" sz="2400" dirty="0" smtClean="0"/>
              <a:t>“Quality</a:t>
            </a:r>
            <a:r>
              <a:rPr lang="en-CA" sz="2400" dirty="0"/>
              <a:t>" of the </a:t>
            </a:r>
            <a:r>
              <a:rPr lang="en-CA" sz="2400" dirty="0" smtClean="0"/>
              <a:t>TWO </a:t>
            </a:r>
            <a:r>
              <a:rPr lang="en-CA" sz="2400" dirty="0"/>
              <a:t>planned Demos AND the Final system and will submit to </a:t>
            </a:r>
            <a:r>
              <a:rPr lang="en-CA" sz="2400" dirty="0" smtClean="0"/>
              <a:t>your instructors my overall impression </a:t>
            </a:r>
            <a:r>
              <a:rPr lang="en-CA" sz="2400" dirty="0"/>
              <a:t>of the individual </a:t>
            </a:r>
            <a:r>
              <a:rPr lang="en-CA" sz="2400" dirty="0" smtClean="0"/>
              <a:t>systems.</a:t>
            </a:r>
          </a:p>
          <a:p>
            <a:endParaRPr lang="en-CA" sz="2400" dirty="0"/>
          </a:p>
          <a:p>
            <a:r>
              <a:rPr lang="en-CA" sz="2400" dirty="0" smtClean="0"/>
              <a:t>Your instructors will use </a:t>
            </a:r>
            <a:r>
              <a:rPr lang="en-CA" sz="2400" dirty="0"/>
              <a:t>this customer feedback in the overall assessment of the projects. </a:t>
            </a:r>
            <a:r>
              <a:rPr lang="en-CA" sz="2400" dirty="0" smtClean="0"/>
              <a:t>The assessment of the projects are confidential, and will not be shared with the customer.</a:t>
            </a:r>
          </a:p>
          <a:p>
            <a:endParaRPr lang="en-CA" sz="2400" dirty="0"/>
          </a:p>
          <a:p>
            <a:r>
              <a:rPr lang="en-CA" sz="2400" dirty="0" smtClean="0"/>
              <a:t>As your customer, I will </a:t>
            </a:r>
            <a:r>
              <a:rPr lang="en-CA" sz="2400" b="1" u="sng" dirty="0" smtClean="0"/>
              <a:t>not</a:t>
            </a:r>
            <a:r>
              <a:rPr lang="en-CA" sz="2400" dirty="0" smtClean="0"/>
              <a:t> </a:t>
            </a:r>
            <a:r>
              <a:rPr lang="en-CA" sz="2400" dirty="0"/>
              <a:t>rank one system against </a:t>
            </a:r>
            <a:r>
              <a:rPr lang="en-CA" sz="2400" dirty="0" smtClean="0"/>
              <a:t>another.</a:t>
            </a:r>
          </a:p>
          <a:p>
            <a:endParaRPr lang="en-CA" sz="2400" dirty="0"/>
          </a:p>
          <a:p>
            <a:r>
              <a:rPr lang="en-CA" sz="2400" dirty="0" smtClean="0"/>
              <a:t>Each team’s system </a:t>
            </a:r>
            <a:r>
              <a:rPr lang="en-CA" sz="2400" dirty="0"/>
              <a:t>will be assessed </a:t>
            </a:r>
            <a:r>
              <a:rPr lang="en-CA" sz="2400" dirty="0" smtClean="0"/>
              <a:t>individually for quality, and </a:t>
            </a:r>
            <a:r>
              <a:rPr lang="en-CA" sz="2400" dirty="0"/>
              <a:t>on its own merit.</a:t>
            </a:r>
            <a:endParaRPr lang="en-CA" sz="2400" dirty="0" smtClean="0"/>
          </a:p>
        </p:txBody>
      </p:sp>
    </p:spTree>
    <p:extLst>
      <p:ext uri="{BB962C8B-B14F-4D97-AF65-F5344CB8AC3E}">
        <p14:creationId xmlns:p14="http://schemas.microsoft.com/office/powerpoint/2010/main" val="41600540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 descr="title_page_Medicine_prp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16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9875" y="10160"/>
            <a:ext cx="8620125" cy="861774"/>
          </a:xfrm>
          <a:prstGeom prst="rect">
            <a:avLst/>
          </a:prstGeom>
          <a:noFill/>
        </p:spPr>
        <p:txBody>
          <a:bodyPr>
            <a:spAutoFit/>
          </a:bodyPr>
          <a:lstStyle/>
          <a:p>
            <a:pPr algn="ctr">
              <a:spcAft>
                <a:spcPts val="1200"/>
              </a:spcAft>
              <a:defRPr/>
            </a:pPr>
            <a:r>
              <a:rPr lang="en-US" sz="5000" b="1" dirty="0" smtClean="0">
                <a:solidFill>
                  <a:srgbClr val="3C1B71"/>
                </a:solidFill>
                <a:latin typeface="Arial"/>
                <a:cs typeface="Arial Unicode MS"/>
              </a:rPr>
              <a:t>Questions?</a:t>
            </a:r>
            <a:endParaRPr lang="en-US" sz="1600" b="1" dirty="0">
              <a:solidFill>
                <a:srgbClr val="3C1B71"/>
              </a:solidFill>
              <a:latin typeface="Arial"/>
              <a:cs typeface="Arial Unicode MS"/>
            </a:endParaRPr>
          </a:p>
        </p:txBody>
      </p:sp>
      <p:sp>
        <p:nvSpPr>
          <p:cNvPr id="4" name="TextBox 3"/>
          <p:cNvSpPr txBox="1"/>
          <p:nvPr/>
        </p:nvSpPr>
        <p:spPr>
          <a:xfrm>
            <a:off x="493059" y="959224"/>
            <a:ext cx="588623" cy="2831544"/>
          </a:xfrm>
          <a:prstGeom prst="rect">
            <a:avLst/>
          </a:prstGeom>
          <a:noFill/>
        </p:spPr>
        <p:txBody>
          <a:bodyPr wrap="none" rtlCol="0">
            <a:spAutoFit/>
          </a:bodyPr>
          <a:lstStyle/>
          <a:p>
            <a:pPr marL="285750" indent="-285750">
              <a:buFont typeface="Arial" panose="020B0604020202020204" pitchFamily="34" charset="0"/>
              <a:buChar char="•"/>
            </a:pPr>
            <a:r>
              <a:rPr lang="en-US" sz="1600" dirty="0" smtClean="0"/>
              <a:t> </a:t>
            </a:r>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endParaRPr lang="en-US" sz="1600" dirty="0" smtClean="0"/>
          </a:p>
          <a:p>
            <a:pPr marL="285750" indent="-285750">
              <a:buFont typeface="Arial" panose="020B0604020202020204" pitchFamily="34" charset="0"/>
              <a:buChar char="•"/>
            </a:pPr>
            <a:r>
              <a:rPr lang="en-US" sz="1600" dirty="0"/>
              <a:t> </a:t>
            </a:r>
            <a:r>
              <a:rPr lang="en-US" sz="1600" dirty="0" smtClean="0"/>
              <a:t> </a:t>
            </a:r>
            <a:endParaRPr lang="en-US" dirty="0" smtClean="0"/>
          </a:p>
          <a:p>
            <a:endParaRPr lang="en-US" dirty="0"/>
          </a:p>
        </p:txBody>
      </p:sp>
    </p:spTree>
    <p:extLst>
      <p:ext uri="{BB962C8B-B14F-4D97-AF65-F5344CB8AC3E}">
        <p14:creationId xmlns:p14="http://schemas.microsoft.com/office/powerpoint/2010/main" val="4815124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8194"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11113"/>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3167</TotalTime>
  <Words>581</Words>
  <Application>Microsoft Office PowerPoint</Application>
  <PresentationFormat>On-screen Show (4:3)</PresentationFormat>
  <Paragraphs>128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 Unicode MS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UWO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Wilson</dc:creator>
  <cp:lastModifiedBy>Derrick Gould</cp:lastModifiedBy>
  <cp:revision>286</cp:revision>
  <cp:lastPrinted>2013-05-21T13:28:15Z</cp:lastPrinted>
  <dcterms:created xsi:type="dcterms:W3CDTF">2011-12-22T19:42:13Z</dcterms:created>
  <dcterms:modified xsi:type="dcterms:W3CDTF">2016-09-26T13:08:09Z</dcterms:modified>
</cp:coreProperties>
</file>